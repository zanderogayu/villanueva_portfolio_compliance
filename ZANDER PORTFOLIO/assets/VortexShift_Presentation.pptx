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-731520"/>
            <a:ext cx="3200400" cy="3200400"/>
          </a:xfrm>
          <a:prstGeom prst="ellipse">
            <a:avLst/>
          </a:prstGeom>
          <a:solidFill>
            <a:srgbClr val="2B4C7E"/>
          </a:solidFill>
          <a:ln w="12700">
            <a:solidFill>
              <a:srgbClr val="2B4C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2560320"/>
            <a:ext cx="2011680" cy="201168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6583680" y="640080"/>
            <a:ext cx="2194560" cy="2194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64008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VORTEXSHIFT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365760" y="1572768"/>
            <a:ext cx="5212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0" kern="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CIPHER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57200" y="2423160"/>
            <a:ext cx="219456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257860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Cryptographic Cipher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315468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1546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Positional Caesar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630168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36301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Rail Fence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105656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410565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Mirror Fold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663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Assurance &amp; Security — Finals Project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VortexShift Cipher?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VortexShift is an original hybrid encryption algorithm that chains three classical cryptographic techniques into a single, multi-layer cipher.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attacks a different vulnerability — character frequency, character order, and structural position — making the combined cipher significantly harder to break than any single technique alone.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0" y="155448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0" y="1554480"/>
            <a:ext cx="91440" cy="86868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75564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806440" y="16276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06440" y="19385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Positional Caesar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675120" y="2468880"/>
            <a:ext cx="36576" cy="1828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2" name="Text 9"/>
          <p:cNvSpPr/>
          <p:nvPr/>
        </p:nvSpPr>
        <p:spPr>
          <a:xfrm>
            <a:off x="6537960" y="2587752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29200" y="260604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029200" y="2606040"/>
            <a:ext cx="91440" cy="8686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807208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806440" y="26791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806440" y="29900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Rail Fence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675120" y="3520440"/>
            <a:ext cx="36576" cy="1828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9" name="Text 15"/>
          <p:cNvSpPr/>
          <p:nvPr/>
        </p:nvSpPr>
        <p:spPr>
          <a:xfrm>
            <a:off x="6537960" y="3639312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029200" y="365760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029200" y="3657600"/>
            <a:ext cx="91440" cy="86868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3858768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806440" y="37307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5806440" y="40416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Mirror Fold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5029200" y="4572000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0F1F33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5029200" y="45720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Ciphertext Output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Positional Caesar Shift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extension of the Caesar Cipher where each character's shift grows with its position. Rather than a constant shift, the displacement at index i is key + (2 × i), creating a unique shift per character.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60604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651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History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99923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Rooted in Julius Caesar's cipher (100–44 BC), one of history's oldest known substitution schemes. The positional variant is a modern enhancement eliminating the uniform shift that makes classical Caesar trivial to break via frequency analysis.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023360" cy="1325880"/>
          </a:xfrm>
          <a:prstGeom prst="roundRect">
            <a:avLst>
              <a:gd name="adj" fmla="val 5517"/>
            </a:avLst>
          </a:prstGeom>
          <a:solidFill>
            <a:srgbClr val="1E3A5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10972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426464"/>
            <a:ext cx="3749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shift(i) = (key + 2 × i) mod 26
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Encrypt: C[i] = (P[i] − base + shift) mod 26
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Decrypt: P[i] = (C[i] − base − shift) mod 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4688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HELLO  (key = 3)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834640"/>
          <a:ext cx="4023360" cy="1783080"/>
        </p:xfrm>
        <a:graphic>
          <a:graphicData uri="http://schemas.openxmlformats.org/drawingml/2006/table">
            <a:tbl>
              <a:tblPr/>
              <a:tblGrid>
                <a:gridCol w="731520"/>
                <a:gridCol w="1005840"/>
                <a:gridCol w="1188720"/>
                <a:gridCol w="1097280"/>
              </a:tblGrid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Shift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Out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754880" y="46634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→ KJSUZ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Rail Fence Transposition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transposition cipher where characters are written diagonally across imaginary "rails" in a zigzag pattern, then read row-by-row. Character values are unchanged — only their sequence is rearranged.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578608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6243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History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Descended from the Greek Scytale (700 BC), a leather-strip cylinder transposition tool. Used during the American Civil War (1861–1865) for battlefield communications. Still taught today as the canonical example of a pure transposition cipher.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1E3A5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10972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41732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Write chars diagonally across R rails
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Oscillate rail: 0 → R-1 → 0 → ...
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Read each rail L→R, concatenate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3774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KJSUZ  (rails = 3)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138928" y="2898648"/>
            <a:ext cx="731520" cy="54864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870448" y="3447288"/>
            <a:ext cx="731520" cy="-54864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601968" y="2898648"/>
            <a:ext cx="731520" cy="54864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7333488" y="3447288"/>
            <a:ext cx="731520" cy="-54864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029200" y="2788920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760720" y="333756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3337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92240" y="2788920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223760" y="333756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3337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955280" y="2788920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0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54880" y="274320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0: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329184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1: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38404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 0: K S Z → KSZ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413308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 1: J U   → JU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44805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KJSUZ → KSZJU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Mirror Fold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rail segment produced by the Rail Fence is individually reversed before being concatenated. Unlike a simple full-message reversal, only the internal structure of each rail is mirrored — creating asymmetric scrambling.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697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History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04495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Reversal ciphers date to Hebrew Atbash (600 BC). Renaissance cryptographers combined reversal with substitution. The per-rail mirror fold is a modern original design: it applies reversal at the structural level of Rail Fence rather than the whole string.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1E3A5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10972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41732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Split text by rail sizes from Rail Fence
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Reverse each segment independently
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Concatenate: rail[0] + rail[1] + ...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3774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KSZJU  (rails = 2)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743200"/>
          <a:ext cx="4023360" cy="118872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1463040"/>
              </a:tblGrid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Rail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Segment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→  Reversed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9770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Rail 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KSZ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ZSK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Rail 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JU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UJ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4754880" y="40416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Concatenate:  ZSK + UJ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54880" y="44074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KSZJU → ZSKUJ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457200"/>
            <a:ext cx="3200400" cy="32004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6492240" y="640080"/>
            <a:ext cx="2011680" cy="2011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5720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VORTEXSHIFT CIPHER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 &amp; Design Inspiration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572768"/>
            <a:ext cx="146304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71907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"VortexShift" reflects how a message spirals through three transformations — like a vortex — before emerging as unrecognizable ciphertext.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560320"/>
            <a:ext cx="8229600" cy="685800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2560320"/>
            <a:ext cx="82296" cy="68580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70048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25968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Layer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188720" y="286207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Caesar disrupts frequency patterns — the #1 weakness of substitution ciphers.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364992"/>
            <a:ext cx="8229600" cy="68580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7200" y="3364992"/>
            <a:ext cx="82296" cy="6858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74720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88720" y="34015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Transposition Layer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188720" y="3666744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Fence reorders characters, defeating any positional pattern analysis.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4169664"/>
            <a:ext cx="8229600" cy="685800"/>
          </a:xfrm>
          <a:prstGeom prst="rect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57200" y="4169664"/>
            <a:ext cx="82296" cy="6858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279392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88720" y="4206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Layer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188720" y="4471416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Fold invalidates per-rail position assumptions, adding a third attack surface.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B4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COMBINED FORMULA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Encryption Pipeline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3931920" cy="420624"/>
          </a:xfrm>
          <a:prstGeom prst="roundRect">
            <a:avLst>
              <a:gd name="adj" fmla="val 1087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0876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(P)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03120" y="193852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075688"/>
            <a:ext cx="3931920" cy="420624"/>
          </a:xfrm>
          <a:prstGeom prst="roundRect">
            <a:avLst>
              <a:gd name="adj" fmla="val 1087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075688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Caesar (key)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03120" y="2505456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642616"/>
            <a:ext cx="3931920" cy="420624"/>
          </a:xfrm>
          <a:prstGeom prst="roundRect">
            <a:avLst>
              <a:gd name="adj" fmla="val 1087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642616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Fence (rails)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03120" y="3072384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209544"/>
            <a:ext cx="3931920" cy="420624"/>
          </a:xfrm>
          <a:prstGeom prst="roundRect">
            <a:avLst>
              <a:gd name="adj" fmla="val 1087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209544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Fold (rails)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03120" y="363931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↓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776472"/>
            <a:ext cx="3931920" cy="420624"/>
          </a:xfrm>
          <a:prstGeom prst="roundRect">
            <a:avLst>
              <a:gd name="adj" fmla="val 10870"/>
            </a:avLst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776472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(C)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0" y="1051560"/>
            <a:ext cx="4297680" cy="1920240"/>
          </a:xfrm>
          <a:prstGeom prst="roundRect">
            <a:avLst>
              <a:gd name="adj" fmla="val 3810"/>
            </a:avLst>
          </a:prstGeom>
          <a:solidFill>
            <a:srgbClr val="0F1F33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10972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Formula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1426464"/>
            <a:ext cx="4114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MirrorFold(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RailFence(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PosShift(P, key),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rails),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rails)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3063240"/>
            <a:ext cx="4297680" cy="1920240"/>
          </a:xfrm>
          <a:prstGeom prst="roundRect">
            <a:avLst>
              <a:gd name="adj" fmla="val 3810"/>
            </a:avLst>
          </a:prstGeom>
          <a:solidFill>
            <a:srgbClr val="1E3A5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63440" y="31089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 Formula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0" y="3438144"/>
            <a:ext cx="4114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PosShift⁻¹(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RailFence⁻¹(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MirrorFold⁻¹(C, rails),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rails),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617720"/>
            <a:ext cx="3931920" cy="384048"/>
          </a:xfrm>
          <a:prstGeom prst="roundRect">
            <a:avLst>
              <a:gd name="adj" fmla="val 9524"/>
            </a:avLst>
          </a:prstGeom>
          <a:solidFill>
            <a:srgbClr val="F59E0B">
              <a:alpha val="7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6177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Decrypt must be in strictly reverse order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  |  key=5  |  rails=2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Positional Caesar (key = 5)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5029200" cy="164592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188720"/>
                <a:gridCol w="1097280"/>
              </a:tblGrid>
              <a:tr h="2351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Shift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Result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0" y="1645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HYAHGD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65760" y="31546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Rail Fence (rails = 2)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349300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 0:  H · A · G  →  HAG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 1:  · Y · H · D  →  YHD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HAG + YHD = HAGYHDX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41788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Mirror Fold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45079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HAG → GAH  |  YHD → DHY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0" y="4041648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0F1F33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029200" y="404164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 → GAHDHY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EXAMPLES 2 &amp; 3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393192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2 — SECURE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= 2  |  rails = 3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01368"/>
          <a:ext cx="3749040" cy="1463040"/>
        </p:xfrm>
        <a:graphic>
          <a:graphicData uri="http://schemas.openxmlformats.org/drawingml/2006/table">
            <a:tbl>
              <a:tblPr/>
              <a:tblGrid>
                <a:gridCol w="640080"/>
                <a:gridCol w="822960"/>
                <a:gridCol w="1005840"/>
                <a:gridCol w="822960"/>
              </a:tblGrid>
              <a:tr h="20900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Shift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Out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20900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900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900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900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900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900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33101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Layer 1:  UIICBQ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3602736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 0: U·C  → UC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 1: I·B  → IB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 2: I·Q  → IQ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Layer 2:  UCIBIQ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42519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Mirror: UC→CU | IB→BI | IQ→QI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4544568"/>
            <a:ext cx="3657600" cy="292608"/>
          </a:xfrm>
          <a:prstGeom prst="roundRect">
            <a:avLst>
              <a:gd name="adj" fmla="val 25000"/>
            </a:avLst>
          </a:prstGeom>
          <a:solidFill>
            <a:srgbClr val="0F1F3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5445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 → CUBIQI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846320" y="1051560"/>
            <a:ext cx="393192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46320" y="1051560"/>
            <a:ext cx="3931920" cy="3840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3"/>
          <p:cNvSpPr/>
          <p:nvPr/>
        </p:nvSpPr>
        <p:spPr>
          <a:xfrm>
            <a:off x="4937760" y="10515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3 — VORTEX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937760" y="14813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= 7  |  rails = 2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801368"/>
          <a:ext cx="3749040" cy="1463040"/>
        </p:xfrm>
        <a:graphic>
          <a:graphicData uri="http://schemas.openxmlformats.org/drawingml/2006/table">
            <a:tbl>
              <a:tblPr/>
              <a:tblGrid>
                <a:gridCol w="640080"/>
                <a:gridCol w="822960"/>
                <a:gridCol w="1005840"/>
                <a:gridCol w="822960"/>
              </a:tblGrid>
              <a:tr h="20900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Shift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Out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20900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900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900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900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900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900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4937760" y="33101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Layer 1:  CXCGTO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937760" y="3602736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 0: C·C·T  → CCT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 1: X·G·O  → XGO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Layer 2:  CCTXGO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937760" y="42519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Mirror: CCT→TCC | XGO→OGX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937760" y="4544568"/>
            <a:ext cx="3657600" cy="292608"/>
          </a:xfrm>
          <a:prstGeom prst="roundRect">
            <a:avLst>
              <a:gd name="adj" fmla="val 25000"/>
            </a:avLst>
          </a:prstGeom>
          <a:solidFill>
            <a:srgbClr val="0F1F3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937760" y="45445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VORTEX → TCCOGX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 — INSTALLING PYTHON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7320" y="850392"/>
            <a:ext cx="594360" cy="5943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85039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5270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to python.org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2468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 python.org/downloads  and click the Download Python 3.x button. Choose the latest stable release.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14300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850392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85039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83280" y="15270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the Installer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1965960"/>
            <a:ext cx="2468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downloaded installer. CHECK the box "Add Python to PATH" before clicking Install Now — this is critical.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14300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69480" y="850392"/>
            <a:ext cx="594360" cy="5943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85039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09360" y="15270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 Installation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1965960"/>
            <a:ext cx="2468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terminal or Command Prompt and type:  python --version</a:t>
            </a:r>
            <a:endParaRPr lang="en-US" sz="11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see:  Python 3.x.x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" y="3566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Windows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93192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0F1F33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9776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VortexShift_Cipher.py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 VortexShift_Cipher.py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3566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macOS / Linux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393192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0F1F33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92040" y="39776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VortexShift_Cipher.py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B4C7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286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RUNNING IN VS CODE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1124712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124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41248" y="10515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VS Code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134416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from code.visualstudio.com and install.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21208" y="1490472"/>
            <a:ext cx="18288" cy="34747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7"/>
          <p:cNvSpPr/>
          <p:nvPr/>
        </p:nvSpPr>
        <p:spPr>
          <a:xfrm>
            <a:off x="365760" y="1892808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18928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41248" y="181965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Python Extension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41248" y="2112264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VS Code → Extensions (Ctrl+Shift+X) → Search "Python" → Install the Microsoft Python extension.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21208" y="2258568"/>
            <a:ext cx="18288" cy="34747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365760" y="2660904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26609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41248" y="258775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File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41248" y="28803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Open File → select  VortexShift_Cipher.py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21208" y="3026664"/>
            <a:ext cx="18288" cy="34747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Shape 17"/>
          <p:cNvSpPr/>
          <p:nvPr/>
        </p:nvSpPr>
        <p:spPr>
          <a:xfrm>
            <a:off x="365760" y="342900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34290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41248" y="335584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Python Interpreter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41248" y="364845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Ctrl+Shift+P → type  Python: Select Interpreter → pick Python 3.x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21208" y="3794760"/>
            <a:ext cx="18288" cy="34747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Shape 22"/>
          <p:cNvSpPr/>
          <p:nvPr/>
        </p:nvSpPr>
        <p:spPr>
          <a:xfrm>
            <a:off x="365760" y="4197096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" y="41970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41248" y="412394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Program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41248" y="441655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F5 or click the ▶ Run button. The terminal opens at the bottom and the cipher menu appears.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120640" y="1051560"/>
            <a:ext cx="3749040" cy="3886200"/>
          </a:xfrm>
          <a:prstGeom prst="roundRect">
            <a:avLst>
              <a:gd name="adj" fmla="val 1951"/>
            </a:avLst>
          </a:prstGeom>
          <a:solidFill>
            <a:srgbClr val="0F1F33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120640" y="1051560"/>
            <a:ext cx="3749040" cy="4114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1" name="Text 28"/>
          <p:cNvSpPr/>
          <p:nvPr/>
        </p:nvSpPr>
        <p:spPr>
          <a:xfrm>
            <a:off x="5212080" y="10789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  TERMINAL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257800" y="1508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python3 VortexShift_Cipher.py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257800" y="18013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257800" y="20939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██╗   ██╗ ██████╗ ██████╗ ...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257800" y="23865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VortexShift Cipher loaded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257800" y="26791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257800" y="2971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[ 1 ]  Encrypt a message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257800" y="32644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[ 2 ]  Decrypt a message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257800" y="35570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[ 3 ]  About VortexShift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257800" y="38496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[ 4 ]  Exit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5257800" y="41422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5257800" y="4434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Choose option: _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6400800" cy="6400800"/>
          </a:xfrm>
          <a:prstGeom prst="ellipse">
            <a:avLst/>
          </a:prstGeom>
          <a:solidFill>
            <a:srgbClr val="2B4C7E">
              <a:alpha val="40000"/>
            </a:srgbClr>
          </a:solidFill>
          <a:ln w="12700">
            <a:solidFill>
              <a:srgbClr val="2B4C7E">
                <a:alpha val="40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6583680" y="548640"/>
            <a:ext cx="2286000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5029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" y="1170432"/>
            <a:ext cx="16459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298448"/>
            <a:ext cx="54864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VortexShift demonstrates how combining fundamentally different classical ciphers — substitution, transposition, and structural reversal — creates a system that is far harder to break than any individual component.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removes a different attack surface, mirroring the design philosophy of modern block ciphers like AES, which apply multiple substitution-permutation rounds for security.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324612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2B4C7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05840" y="3337560"/>
            <a:ext cx="530352" cy="5303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517" y="3454237"/>
            <a:ext cx="296997" cy="29699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" y="39319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65760" y="4206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Caesar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468880" y="324612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2B4C7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108960" y="3337560"/>
            <a:ext cx="530352" cy="5303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637" y="3454237"/>
            <a:ext cx="296997" cy="29699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468880" y="39319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2468880" y="4206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Fence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572000" y="324612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2B4C7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212080" y="3337560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8757" y="3454237"/>
            <a:ext cx="296997" cy="29699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572000" y="39319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572000" y="4206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Fold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6675120" y="324612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2B4C7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15200" y="3337560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1877" y="3454237"/>
            <a:ext cx="296997" cy="29699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675120" y="39319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6675120" y="4206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VortexShift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548640" y="47548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Assurance &amp; Security — Finals Project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VortexShift Cipher</dc:title>
  <dc:subject>PptxGenJS Presentation</dc:subject>
  <dc:creator>PptxGenJS</dc:creator>
  <cp:lastModifiedBy>PptxGenJS</cp:lastModifiedBy>
  <cp:revision>1</cp:revision>
  <dcterms:created xsi:type="dcterms:W3CDTF">2026-05-03T04:27:20Z</dcterms:created>
  <dcterms:modified xsi:type="dcterms:W3CDTF">2026-05-03T04:27:20Z</dcterms:modified>
</cp:coreProperties>
</file>